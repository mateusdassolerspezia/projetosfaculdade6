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DM Sans" pitchFamily="2" charset="0"/>
      <p:regular r:id="rId14"/>
    </p:embeddedFont>
    <p:embeddedFont>
      <p:font typeface="Montserrat Bold" panose="020B0604020202020204" charset="0"/>
      <p:regular r:id="rId15"/>
    </p:embeddedFont>
    <p:embeddedFont>
      <p:font typeface="Neue Machina" panose="020B0604020202020204" charset="0"/>
      <p:regular r:id="rId16"/>
    </p:embeddedFont>
    <p:embeddedFont>
      <p:font typeface="Neue Machina Ultra-Bold" panose="020B0604020202020204" charset="0"/>
      <p:regular r:id="rId17"/>
    </p:embeddedFont>
    <p:embeddedFont>
      <p:font typeface="Poppins" panose="00000500000000000000" pitchFamily="2" charset="0"/>
      <p:regular r:id="rId18"/>
    </p:embeddedFont>
    <p:embeddedFont>
      <p:font typeface="Poppi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173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0823" y="348142"/>
            <a:ext cx="9714354" cy="9590716"/>
          </a:xfrm>
          <a:custGeom>
            <a:avLst/>
            <a:gdLst/>
            <a:ahLst/>
            <a:cxnLst/>
            <a:rect l="l" t="t" r="r" b="b"/>
            <a:pathLst>
              <a:path w="9714354" h="9590716">
                <a:moveTo>
                  <a:pt x="0" y="0"/>
                </a:moveTo>
                <a:lnTo>
                  <a:pt x="9714354" y="0"/>
                </a:lnTo>
                <a:lnTo>
                  <a:pt x="9714354" y="9590716"/>
                </a:lnTo>
                <a:lnTo>
                  <a:pt x="0" y="9590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68263" y="4421599"/>
            <a:ext cx="9714354" cy="2242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5"/>
              </a:lnSpc>
            </a:pPr>
            <a:r>
              <a:rPr lang="en-US" sz="8995" spc="53" dirty="0">
                <a:solidFill>
                  <a:srgbClr val="F9F8F3"/>
                </a:solidFill>
                <a:latin typeface="Neue Machina"/>
                <a:ea typeface="Neue Machina"/>
                <a:cs typeface="Neue Machina"/>
                <a:sym typeface="Neue Machina"/>
              </a:rPr>
              <a:t>INOVAÇÃO</a:t>
            </a:r>
          </a:p>
          <a:p>
            <a:pPr algn="l">
              <a:lnSpc>
                <a:spcPts val="8545"/>
              </a:lnSpc>
            </a:pPr>
            <a:r>
              <a:rPr lang="en-US" sz="8995" b="1" spc="53" dirty="0">
                <a:solidFill>
                  <a:srgbClr val="F9F8F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TECNOLÓGICA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68263" y="6693144"/>
            <a:ext cx="9459943" cy="1093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8"/>
              </a:lnSpc>
            </a:pPr>
            <a:r>
              <a:rPr lang="en-US" sz="3839" b="1" spc="111" dirty="0">
                <a:solidFill>
                  <a:srgbClr val="D4FC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 DE ANÁLISE DE LOTAÇÃO DE TRANSPORTE PÚBLICO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68263" y="7786763"/>
            <a:ext cx="9386299" cy="958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3387" spc="-125">
                <a:solidFill>
                  <a:srgbClr val="F9F8F3"/>
                </a:solidFill>
                <a:latin typeface="Poppins"/>
                <a:ea typeface="Poppins"/>
                <a:cs typeface="Poppins"/>
                <a:sym typeface="Poppins"/>
              </a:rPr>
              <a:t>Aline Sabel, Henrique André Oneda, Mateus Dassoler Spezia e Vinicius Oneda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20489" y="0"/>
            <a:ext cx="18928978" cy="6376403"/>
            <a:chOff x="0" y="0"/>
            <a:chExt cx="4536924" cy="15283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6924" cy="1528305"/>
            </a:xfrm>
            <a:custGeom>
              <a:avLst/>
              <a:gdLst/>
              <a:ahLst/>
              <a:cxnLst/>
              <a:rect l="l" t="t" r="r" b="b"/>
              <a:pathLst>
                <a:path w="4536924" h="1528305">
                  <a:moveTo>
                    <a:pt x="0" y="0"/>
                  </a:moveTo>
                  <a:lnTo>
                    <a:pt x="4536924" y="0"/>
                  </a:lnTo>
                  <a:lnTo>
                    <a:pt x="4536924" y="1528305"/>
                  </a:lnTo>
                  <a:lnTo>
                    <a:pt x="0" y="152830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4536924" cy="1518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16339" y="1904844"/>
            <a:ext cx="6444698" cy="52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4000" b="1" u="sng" spc="-44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</a:t>
            </a:r>
            <a:r>
              <a:rPr lang="en-US" sz="4000" u="sng" spc="-44">
                <a:solidFill>
                  <a:srgbClr val="D4FC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16339" y="2665661"/>
            <a:ext cx="12225488" cy="156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3326" spc="-153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Sistema de análise de lotação de transporte público, que monitora a entrada e saída dos passageiros – além de verificar a quantidade de bancos vagos, e calcular a lotação dele.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6339" y="6792681"/>
            <a:ext cx="6999703" cy="52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3999" b="1" u="sng" spc="-43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Mercado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6339" y="7575043"/>
            <a:ext cx="6505973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spc="-151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Tecnologia</a:t>
            </a:r>
          </a:p>
        </p:txBody>
      </p:sp>
      <p:sp>
        <p:nvSpPr>
          <p:cNvPr id="9" name="Freeform 9"/>
          <p:cNvSpPr/>
          <p:nvPr/>
        </p:nvSpPr>
        <p:spPr>
          <a:xfrm rot="641318">
            <a:off x="15243663" y="-3033251"/>
            <a:ext cx="6394676" cy="6313289"/>
          </a:xfrm>
          <a:custGeom>
            <a:avLst/>
            <a:gdLst/>
            <a:ahLst/>
            <a:cxnLst/>
            <a:rect l="l" t="t" r="r" b="b"/>
            <a:pathLst>
              <a:path w="6394676" h="6313289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62634" y="7575043"/>
            <a:ext cx="6505973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spc="-151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Serviço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85850"/>
            <a:ext cx="6268959" cy="54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99"/>
              </a:lnSpc>
              <a:spcBef>
                <a:spcPct val="0"/>
              </a:spcBef>
            </a:pPr>
            <a:r>
              <a:rPr lang="en-US" sz="3999" b="1" u="sng" spc="-99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Vantagens e Diferencias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96220"/>
            <a:ext cx="10874230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spc="-151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Dados mais precisos da quantidade de passageiros.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322075"/>
            <a:ext cx="10874230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spc="-151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Monitoramento de lotação.</a:t>
            </a:r>
          </a:p>
          <a:p>
            <a:pPr algn="l">
              <a:lnSpc>
                <a:spcPts val="4620"/>
              </a:lnSpc>
            </a:pPr>
            <a:endParaRPr lang="en-US" sz="3300" spc="-151">
              <a:solidFill>
                <a:srgbClr val="F9F8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4537710"/>
            <a:ext cx="10874230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spc="-151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Ajuda a averiguar a situação para adicionar mais ônibus em circulação.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63314" y="6587424"/>
            <a:ext cx="18928978" cy="6376403"/>
            <a:chOff x="0" y="0"/>
            <a:chExt cx="4536924" cy="15283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36924" cy="1528305"/>
            </a:xfrm>
            <a:custGeom>
              <a:avLst/>
              <a:gdLst/>
              <a:ahLst/>
              <a:cxnLst/>
              <a:rect l="l" t="t" r="r" b="b"/>
              <a:pathLst>
                <a:path w="4536924" h="1528305">
                  <a:moveTo>
                    <a:pt x="0" y="0"/>
                  </a:moveTo>
                  <a:lnTo>
                    <a:pt x="4536924" y="0"/>
                  </a:lnTo>
                  <a:lnTo>
                    <a:pt x="4536924" y="1528305"/>
                  </a:lnTo>
                  <a:lnTo>
                    <a:pt x="0" y="1528305"/>
                  </a:lnTo>
                  <a:close/>
                </a:path>
              </a:pathLst>
            </a:custGeom>
            <a:solidFill>
              <a:srgbClr val="292929">
                <a:alpha val="54902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4536924" cy="1518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01019">
            <a:off x="-2168638" y="-4522582"/>
            <a:ext cx="6394676" cy="6313289"/>
          </a:xfrm>
          <a:custGeom>
            <a:avLst/>
            <a:gdLst/>
            <a:ahLst/>
            <a:cxnLst/>
            <a:rect l="l" t="t" r="r" b="b"/>
            <a:pathLst>
              <a:path w="6394676" h="6313289">
                <a:moveTo>
                  <a:pt x="0" y="0"/>
                </a:moveTo>
                <a:lnTo>
                  <a:pt x="6394676" y="0"/>
                </a:lnTo>
                <a:lnTo>
                  <a:pt x="6394676" y="6313289"/>
                </a:lnTo>
                <a:lnTo>
                  <a:pt x="0" y="6313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01019">
            <a:off x="15787080" y="7847902"/>
            <a:ext cx="6394676" cy="6313289"/>
          </a:xfrm>
          <a:custGeom>
            <a:avLst/>
            <a:gdLst/>
            <a:ahLst/>
            <a:cxnLst/>
            <a:rect l="l" t="t" r="r" b="b"/>
            <a:pathLst>
              <a:path w="6394676" h="6313289">
                <a:moveTo>
                  <a:pt x="0" y="0"/>
                </a:moveTo>
                <a:lnTo>
                  <a:pt x="6394676" y="0"/>
                </a:lnTo>
                <a:lnTo>
                  <a:pt x="6394676" y="6313289"/>
                </a:lnTo>
                <a:lnTo>
                  <a:pt x="0" y="6313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237677" y="864774"/>
            <a:ext cx="12823870" cy="8527775"/>
          </a:xfrm>
          <a:custGeom>
            <a:avLst/>
            <a:gdLst/>
            <a:ahLst/>
            <a:cxnLst/>
            <a:rect l="l" t="t" r="r" b="b"/>
            <a:pathLst>
              <a:path w="12823870" h="8527775">
                <a:moveTo>
                  <a:pt x="0" y="0"/>
                </a:moveTo>
                <a:lnTo>
                  <a:pt x="12823870" y="0"/>
                </a:lnTo>
                <a:lnTo>
                  <a:pt x="12823870" y="8527776"/>
                </a:lnTo>
                <a:lnTo>
                  <a:pt x="0" y="8527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147" t="-27973" r="-29838" b="-17434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41318">
            <a:off x="-3579170" y="7805975"/>
            <a:ext cx="6394676" cy="6313289"/>
          </a:xfrm>
          <a:custGeom>
            <a:avLst/>
            <a:gdLst/>
            <a:ahLst/>
            <a:cxnLst/>
            <a:rect l="l" t="t" r="r" b="b"/>
            <a:pathLst>
              <a:path w="6394676" h="6313289">
                <a:moveTo>
                  <a:pt x="0" y="0"/>
                </a:moveTo>
                <a:lnTo>
                  <a:pt x="6394676" y="0"/>
                </a:lnTo>
                <a:lnTo>
                  <a:pt x="6394676" y="6313289"/>
                </a:lnTo>
                <a:lnTo>
                  <a:pt x="0" y="6313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01019">
            <a:off x="15283957" y="7805975"/>
            <a:ext cx="6394676" cy="6313289"/>
          </a:xfrm>
          <a:custGeom>
            <a:avLst/>
            <a:gdLst/>
            <a:ahLst/>
            <a:cxnLst/>
            <a:rect l="l" t="t" r="r" b="b"/>
            <a:pathLst>
              <a:path w="6394676" h="6313289">
                <a:moveTo>
                  <a:pt x="0" y="0"/>
                </a:moveTo>
                <a:lnTo>
                  <a:pt x="6394676" y="0"/>
                </a:lnTo>
                <a:lnTo>
                  <a:pt x="6394676" y="6313289"/>
                </a:lnTo>
                <a:lnTo>
                  <a:pt x="0" y="6313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45499" y="1829741"/>
            <a:ext cx="12257475" cy="7652344"/>
          </a:xfrm>
          <a:custGeom>
            <a:avLst/>
            <a:gdLst/>
            <a:ahLst/>
            <a:cxnLst/>
            <a:rect l="l" t="t" r="r" b="b"/>
            <a:pathLst>
              <a:path w="12257475" h="7652344">
                <a:moveTo>
                  <a:pt x="0" y="0"/>
                </a:moveTo>
                <a:lnTo>
                  <a:pt x="12257475" y="0"/>
                </a:lnTo>
                <a:lnTo>
                  <a:pt x="12257475" y="7652344"/>
                </a:lnTo>
                <a:lnTo>
                  <a:pt x="0" y="76523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93" t="-9815" r="-1195" b="-686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-3080927" y="1085850"/>
            <a:ext cx="10261571" cy="54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sz="3999" b="1" u="sng" spc="-99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Canvas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44478"/>
            <a:ext cx="9871939" cy="1254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99"/>
              </a:lnSpc>
              <a:spcBef>
                <a:spcPct val="0"/>
              </a:spcBef>
            </a:pPr>
            <a:r>
              <a:rPr lang="en-US" sz="3999" b="1" u="sng" spc="-99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Cinco forças de Porter</a:t>
            </a:r>
          </a:p>
          <a:p>
            <a:pPr marL="0" lvl="0" indent="0" algn="l">
              <a:lnSpc>
                <a:spcPts val="9143"/>
              </a:lnSpc>
              <a:spcBef>
                <a:spcPct val="0"/>
              </a:spcBef>
            </a:pPr>
            <a:endParaRPr lang="en-US" sz="3999" b="1" u="sng" spc="-99">
              <a:solidFill>
                <a:srgbClr val="D4FC7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9143"/>
              </a:lnSpc>
              <a:spcBef>
                <a:spcPct val="0"/>
              </a:spcBef>
            </a:pPr>
            <a:endParaRPr lang="en-US" sz="3999" b="1" u="sng" spc="-99">
              <a:solidFill>
                <a:srgbClr val="D4FC7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9143"/>
              </a:lnSpc>
              <a:spcBef>
                <a:spcPct val="0"/>
              </a:spcBef>
            </a:pPr>
            <a:endParaRPr lang="en-US" sz="3999" b="1" u="sng" spc="-99">
              <a:solidFill>
                <a:srgbClr val="D4FC7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9143"/>
              </a:lnSpc>
              <a:spcBef>
                <a:spcPct val="0"/>
              </a:spcBef>
            </a:pPr>
            <a:endParaRPr lang="en-US" sz="3999" b="1" u="sng" spc="-99">
              <a:solidFill>
                <a:srgbClr val="D4FC7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9143"/>
              </a:lnSpc>
              <a:spcBef>
                <a:spcPct val="0"/>
              </a:spcBef>
            </a:pPr>
            <a:endParaRPr lang="en-US" sz="3999" b="1" u="sng" spc="-99">
              <a:solidFill>
                <a:srgbClr val="D4FC7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9143"/>
              </a:lnSpc>
              <a:spcBef>
                <a:spcPct val="0"/>
              </a:spcBef>
            </a:pPr>
            <a:endParaRPr lang="en-US" sz="3999" b="1" u="sng" spc="-99">
              <a:solidFill>
                <a:srgbClr val="D4FC7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9143"/>
              </a:lnSpc>
              <a:spcBef>
                <a:spcPct val="0"/>
              </a:spcBef>
            </a:pPr>
            <a:endParaRPr lang="en-US" sz="3999" b="1" u="sng" spc="-99">
              <a:solidFill>
                <a:srgbClr val="D4FC7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9143"/>
              </a:lnSpc>
              <a:spcBef>
                <a:spcPct val="0"/>
              </a:spcBef>
            </a:pPr>
            <a:endParaRPr lang="en-US" sz="3999" b="1" u="sng" spc="-99">
              <a:solidFill>
                <a:srgbClr val="D4FC7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9143"/>
              </a:lnSpc>
              <a:spcBef>
                <a:spcPct val="0"/>
              </a:spcBef>
            </a:pPr>
            <a:endParaRPr lang="en-US" sz="3999" b="1" u="sng" spc="-99">
              <a:solidFill>
                <a:srgbClr val="D4FC7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9143"/>
              </a:lnSpc>
              <a:spcBef>
                <a:spcPct val="0"/>
              </a:spcBef>
            </a:pPr>
            <a:endParaRPr lang="en-US" sz="3999" b="1" u="sng" spc="-99">
              <a:solidFill>
                <a:srgbClr val="D4FC7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3799"/>
              </a:lnSpc>
              <a:spcBef>
                <a:spcPct val="0"/>
              </a:spcBef>
            </a:pPr>
            <a:endParaRPr lang="en-US" sz="3999" b="1" u="sng" spc="-99">
              <a:solidFill>
                <a:srgbClr val="D4FC72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Freeform 3"/>
          <p:cNvSpPr/>
          <p:nvPr/>
        </p:nvSpPr>
        <p:spPr>
          <a:xfrm rot="-401019">
            <a:off x="-2618839" y="8600087"/>
            <a:ext cx="6394676" cy="6313289"/>
          </a:xfrm>
          <a:custGeom>
            <a:avLst/>
            <a:gdLst/>
            <a:ahLst/>
            <a:cxnLst/>
            <a:rect l="l" t="t" r="r" b="b"/>
            <a:pathLst>
              <a:path w="6394676" h="6313289">
                <a:moveTo>
                  <a:pt x="0" y="0"/>
                </a:moveTo>
                <a:lnTo>
                  <a:pt x="6394676" y="0"/>
                </a:lnTo>
                <a:lnTo>
                  <a:pt x="6394676" y="6313289"/>
                </a:lnTo>
                <a:lnTo>
                  <a:pt x="0" y="6313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01019">
            <a:off x="15813699" y="-2669317"/>
            <a:ext cx="6394676" cy="6313289"/>
          </a:xfrm>
          <a:custGeom>
            <a:avLst/>
            <a:gdLst/>
            <a:ahLst/>
            <a:cxnLst/>
            <a:rect l="l" t="t" r="r" b="b"/>
            <a:pathLst>
              <a:path w="6394676" h="6313289">
                <a:moveTo>
                  <a:pt x="0" y="0"/>
                </a:moveTo>
                <a:lnTo>
                  <a:pt x="6394677" y="0"/>
                </a:lnTo>
                <a:lnTo>
                  <a:pt x="6394677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771132" y="1573377"/>
            <a:ext cx="11446872" cy="8098662"/>
          </a:xfrm>
          <a:custGeom>
            <a:avLst/>
            <a:gdLst/>
            <a:ahLst/>
            <a:cxnLst/>
            <a:rect l="l" t="t" r="r" b="b"/>
            <a:pathLst>
              <a:path w="11446872" h="8098662">
                <a:moveTo>
                  <a:pt x="0" y="0"/>
                </a:moveTo>
                <a:lnTo>
                  <a:pt x="11446871" y="0"/>
                </a:lnTo>
                <a:lnTo>
                  <a:pt x="11446871" y="8098661"/>
                </a:lnTo>
                <a:lnTo>
                  <a:pt x="0" y="8098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45864" y="1119296"/>
            <a:ext cx="9156457" cy="9039921"/>
          </a:xfrm>
          <a:custGeom>
            <a:avLst/>
            <a:gdLst/>
            <a:ahLst/>
            <a:cxnLst/>
            <a:rect l="l" t="t" r="r" b="b"/>
            <a:pathLst>
              <a:path w="9156457" h="9039921">
                <a:moveTo>
                  <a:pt x="0" y="0"/>
                </a:moveTo>
                <a:lnTo>
                  <a:pt x="9156457" y="0"/>
                </a:lnTo>
                <a:lnTo>
                  <a:pt x="9156457" y="9039920"/>
                </a:lnTo>
                <a:lnTo>
                  <a:pt x="0" y="9039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52949" y="1843617"/>
            <a:ext cx="12182102" cy="7414683"/>
          </a:xfrm>
          <a:custGeom>
            <a:avLst/>
            <a:gdLst/>
            <a:ahLst/>
            <a:cxnLst/>
            <a:rect l="l" t="t" r="r" b="b"/>
            <a:pathLst>
              <a:path w="12182102" h="7414683">
                <a:moveTo>
                  <a:pt x="0" y="0"/>
                </a:moveTo>
                <a:lnTo>
                  <a:pt x="12182102" y="0"/>
                </a:lnTo>
                <a:lnTo>
                  <a:pt x="12182102" y="7414683"/>
                </a:lnTo>
                <a:lnTo>
                  <a:pt x="0" y="7414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3259763" y="1085850"/>
            <a:ext cx="10261571" cy="54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sz="3999" b="1" u="sng" spc="-99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SWOT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97809" y="4191259"/>
            <a:ext cx="7389933" cy="194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5"/>
              </a:lnSpc>
            </a:pPr>
            <a:r>
              <a:rPr lang="en-US" sz="7034" b="1" u="sng" strike="noStrike" spc="-175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 Obrigado</a:t>
            </a:r>
          </a:p>
          <a:p>
            <a:pPr algn="l">
              <a:lnSpc>
                <a:spcPts val="7245"/>
              </a:lnSpc>
            </a:pPr>
            <a:r>
              <a:rPr lang="en-US" sz="7034" b="1" u="sng" strike="noStrike" spc="-175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pela atenção!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</Words>
  <Application>Microsoft Office PowerPoint</Application>
  <PresentationFormat>Personalizar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7" baseType="lpstr">
      <vt:lpstr>Neue Machina</vt:lpstr>
      <vt:lpstr>Neue Machina Ultra-Bold</vt:lpstr>
      <vt:lpstr>Poppins Bold</vt:lpstr>
      <vt:lpstr>Arial</vt:lpstr>
      <vt:lpstr>Calibri</vt:lpstr>
      <vt:lpstr>DM Sans</vt:lpstr>
      <vt:lpstr>Montserrat Bold</vt:lpstr>
      <vt:lpstr>Poppins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comercial</dc:title>
  <cp:lastModifiedBy>Mateus Dassoler Spezia</cp:lastModifiedBy>
  <cp:revision>2</cp:revision>
  <dcterms:created xsi:type="dcterms:W3CDTF">2006-08-16T00:00:00Z</dcterms:created>
  <dcterms:modified xsi:type="dcterms:W3CDTF">2026-07-21T22:10:14Z</dcterms:modified>
  <dc:identifier>DAHP9XZQVcI</dc:identifier>
</cp:coreProperties>
</file>